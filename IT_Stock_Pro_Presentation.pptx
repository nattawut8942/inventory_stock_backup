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การเคลื่อนไหวสต็อก (IN vs OUT)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รับเข้า (IN)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62</c:v>
                </c:pt>
                <c:pt idx="2">
                  <c:v>110</c:v>
                </c:pt>
                <c:pt idx="3">
                  <c:v>78</c:v>
                </c:pt>
                <c:pt idx="4">
                  <c:v>95</c:v>
                </c:pt>
                <c:pt idx="5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จ่ายออก (OUT)</c:v>
                </c:pt>
              </c:strCache>
            </c:strRef>
          </c:tx>
          <c:spPr>
            <a:solidFill>
              <a:srgbClr val="1361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45</c:v>
                </c:pt>
                <c:pt idx="2">
                  <c:v>80</c:v>
                </c:pt>
                <c:pt idx="3">
                  <c:v>55</c:v>
                </c:pt>
                <c:pt idx="4">
                  <c:v>70</c:v>
                </c:pt>
                <c:pt idx="5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61A4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9333EA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Monitor</c:v>
                </c:pt>
                <c:pt idx="1">
                  <c:v>Asset</c:v>
                </c:pt>
                <c:pt idx="2">
                  <c:v>Stock</c:v>
                </c:pt>
                <c:pt idx="3">
                  <c:v>Network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361A4">
              <a:alpha val="25000"/>
            </a:srgbClr>
          </a:solidFill>
          <a:ln w="12700">
            <a:solidFill>
              <a:srgbClr val="1361A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1945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INNOVATION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4114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ระบบบริหารจัดการคลังพัสดุ IT สมัยใหม่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จากกระดาษและ Excel สู่ระบบ Real-time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ที่ชาญฉลาด ตรวจสอบได้ และแม่นยำ 100%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71A30"/>
          </a:solidFill>
          <a:ln w="12700">
            <a:solidFill>
              <a:srgbClr val="071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ปัญหาของระบบเดิม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ทุกองค์กรเคยเผชิญปัญหาเหล่านี้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ก่อนที่จะมี IT Stock Pro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ปัญหาของระบบเดิม (กระดาษ + Excel)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2743200" cy="1298448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54864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326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ข้อมูลไม่แม่นยำ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24358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 Excel ด้วยมือ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ทำให้เกิด Human Error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ยอดสต็อกผิดพลาดบ่อยครั้ง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43200" cy="1298448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841248"/>
            <a:ext cx="54864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9326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ไม่รู้ยอดแบบ Real-time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18688" y="124358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ต้องรอสรุปตอนสิ้นเดือน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จึงจะรู้ว่าของหมดหรือไม่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ทำให้เกิดสถานการณ์ขาดสต็อก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841248"/>
            <a:ext cx="274320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41248"/>
            <a:ext cx="54864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9326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ไม่มีระบบแจ้งเตือน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24358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ไม่รู้ว่าของใกล้หมดจนกว่า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จะนับด้วยมือหรือของหมดจริงๆ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ทำให้งาน IT หยุดชะงัก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304288"/>
            <a:ext cx="274320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304288"/>
            <a:ext cx="54864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3957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ตรวจสอบย้อนหลังไม่ได้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" y="270662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ไม่ทราบว่าใครเบิกอะไรไปเมื่อไหร่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Audit Trail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ไม่สามารถสอบสวนได้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2304288"/>
            <a:ext cx="2743200" cy="1298448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2304288"/>
            <a:ext cx="54864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23957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หมดโดยไม่รู้ตัว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18688" y="270662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ไม่มีระบบติดตามวันหมดอายุ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ซอฟต์แวร์และประกัน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ทำให้เสียค่าปรับหรือขาดการสนับสนุน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304288"/>
            <a:ext cx="2743200" cy="1298448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304288"/>
            <a:ext cx="54864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3957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ไม่รองรับ Multi-user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270662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ใช้ได้คนเดียวต่อครั้ง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หลายคนแก้ไขพร้อมกันทำให้ข้อมูลชน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เกิดความสับสนในทีม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เปรียบเทียบ: ก่อน vs หลัง  IT Stock 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11480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ระบบเก่า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2062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229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IT Stock Pro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280160"/>
            <a:ext cx="512064" cy="33832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256032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82880" y="1298448"/>
            <a:ext cx="4114800" cy="512064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350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 Excel ด้วยมือ — ผิดพลาดบ่อย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206240" cy="512064"/>
          </a:xfrm>
          <a:prstGeom prst="rect">
            <a:avLst/>
          </a:prstGeom>
          <a:solidFill>
            <a:srgbClr val="F0FDFB"/>
          </a:solidFill>
          <a:ln w="12700">
            <a:solidFill>
              <a:srgbClr val="B2E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350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Ledger Transaction อัตโนมัติ — แม่นยำ 100%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" y="1865376"/>
            <a:ext cx="4114800" cy="512064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01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รู้ยอดสต็อกตอนสิ้นเดือนเท่านั้น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865376"/>
            <a:ext cx="4206240" cy="512064"/>
          </a:xfrm>
          <a:prstGeom prst="rect">
            <a:avLst/>
          </a:prstGeom>
          <a:solidFill>
            <a:srgbClr val="E0FAF5"/>
          </a:solidFill>
          <a:ln w="12700">
            <a:solidFill>
              <a:srgbClr val="B2EA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019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Dashboard ตลอด 24 ชม.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" y="2432304"/>
            <a:ext cx="4114800" cy="512064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ไม่มีการแจ้งเตือนของใกล้หมด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06240" cy="512064"/>
          </a:xfrm>
          <a:prstGeom prst="rect">
            <a:avLst/>
          </a:prstGeom>
          <a:solidFill>
            <a:srgbClr val="F0FDFB"/>
          </a:solidFill>
          <a:ln w="12700">
            <a:solidFill>
              <a:srgbClr val="B2EA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688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แจ้งเตือนอัตโนมัติ + Email เมื่อต่ำกว่า Min Stock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" y="2999232"/>
            <a:ext cx="4114800" cy="512064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358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อ่านบิลและกรอกข้อมูลด้วยมือ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999232"/>
            <a:ext cx="4206240" cy="512064"/>
          </a:xfrm>
          <a:prstGeom prst="rect">
            <a:avLst/>
          </a:prstGeom>
          <a:solidFill>
            <a:srgbClr val="E0FAF5"/>
          </a:solidFill>
          <a:ln w="12700">
            <a:solidFill>
              <a:srgbClr val="B2EA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35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อ่านบิลอัตโนมัติ ลดเวลา 80%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4114800" cy="512064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027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Audit Trail ตรวจสอบไม่ได้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512064"/>
          </a:xfrm>
          <a:prstGeom prst="rect">
            <a:avLst/>
          </a:prstGeom>
          <a:solidFill>
            <a:srgbClr val="F0FDFB"/>
          </a:solidFill>
          <a:ln w="12700">
            <a:solidFill>
              <a:srgbClr val="B2EA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6027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Transaction บันทึกพร้อม User + เวลา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82880" y="4133088"/>
            <a:ext cx="4114800" cy="512064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6966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หมดโดยไม่มีการแจ้งเตือน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4133088"/>
            <a:ext cx="4206240" cy="512064"/>
          </a:xfrm>
          <a:prstGeom prst="rect">
            <a:avLst/>
          </a:prstGeom>
          <a:solidFill>
            <a:srgbClr val="E0FAF5"/>
          </a:solidFill>
          <a:ln w="12700">
            <a:solidFill>
              <a:srgbClr val="B2EA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6966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MA &amp; License Monitoring แจ้งเตือนล่วงหน้า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ฟีเจอร์หลักของระบบ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เมนูหลักที่ออกแบบมาสำหรับงาน IT โดยเฉพาะ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ศูนย์บัญชาการ Real-time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54864" cy="822960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9611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6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13167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มูลค่าสต็อกรวม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841248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841248"/>
            <a:ext cx="54864" cy="8229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89611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87168" y="13167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รอรับของ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773936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773936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82880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92608" y="224942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สินค้าต้องเติม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1773936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1773936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182880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487168" y="224942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ใกล้หมด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0" y="804672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82880" y="2724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Cards: มูลค่าสต็อก, PO ค้างรับ, สินค้าต้องเติม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82880" y="3127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กราฟ IN vs OUT ย้อนหลัง 6 เดือน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82880" y="3529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สัดส่วนสินค้าตามประเภท (Category)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8288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Low Stock Alert รายการสินค้าต่ำกว่า Min Stock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82880" y="4334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Activity: การเคลื่อนไหวล่าสุด</a:t>
            </a:r>
            <a:endParaRPr lang="en-US" sz="115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572000" y="3456432"/>
          <a:ext cx="43891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&amp; AI OCR — สั่งซื้อและรับของอัจฉริยะ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0936" y="841248"/>
            <a:ext cx="658368" cy="658368"/>
          </a:xfrm>
          <a:prstGeom prst="ellipse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841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44168" y="1170432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1591056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312" y="1591056"/>
            <a:ext cx="1572768" cy="73152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168249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" y="201168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Vendor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ระบุสินค้าและจำนวน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841248"/>
            <a:ext cx="658368" cy="65836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41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136392" y="1170432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2536" y="1591056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02536" y="1591056"/>
            <a:ext cx="1572768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168249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รอของ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201168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ติดตามสถานะ Real-time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15384" y="84124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841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928616" y="1170432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1591056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94760" y="1591056"/>
            <a:ext cx="15727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168249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อัปโหลดบิล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31336" y="201168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รูปถ่ายใบส่งของ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ประมวลผล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07608" y="841248"/>
            <a:ext cx="658368" cy="6583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841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720840" y="1170432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86984" y="1591056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86984" y="1591056"/>
            <a:ext cx="15727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68249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ยืนยันรับ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201168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Confirm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99832" y="84124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841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379208" y="1591056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79208" y="1591056"/>
            <a:ext cx="1572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15784" y="168249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สต็อกเพิ่ม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15784" y="201168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บันทึกอัตโนมัติ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82880" y="2834640"/>
            <a:ext cx="8778240" cy="1956816"/>
          </a:xfrm>
          <a:prstGeom prst="rect">
            <a:avLst/>
          </a:prstGeom>
          <a:solidFill>
            <a:srgbClr val="F0FDFB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2880" y="2834640"/>
            <a:ext cx="8778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346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OCR — จุดเด่นสำคัญ: อ่านบิลแทนมนุษย์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ถ่ายรูปใบส่งของ/บิล: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8600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อัปโหลดเข้าระบบ 1 คลิก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0916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AI ประมวลผลภาพ: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084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 Invoice No., รายการ, จำนวน, Vendor อัตโนมัติ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3730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ลดเวลากรอกข้อมูล: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86000" y="37307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จากเดิมหลายนาที เหลือไม่ถึง 30 วินาที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3730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ลด Error จากการพิมพ์: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20840" y="37307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ข้อมูลถูกต้อง ตรวจทานได้ก่อน Confirm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System — เบิกของด้วย Barcode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กระบวนการเบิกจ่าย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133502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1280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 Barcode หรือพิมพ์ชื่อสินค้า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755648"/>
            <a:ext cx="0" cy="21945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97510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" y="19202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เพิ่มรายการลง Cart (รองรับหลายรายการ)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395728"/>
            <a:ext cx="0" cy="21945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61518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25603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กรอกชื่อผู้เบิก, แผนก, เหตุผล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3035808"/>
            <a:ext cx="0" cy="21945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25526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" y="32004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→ ตัดสต็อกทันที (OUT Transaction)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4048" y="3675888"/>
            <a:ext cx="0" cy="21945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89534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" y="3840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 Min Stock อัตโนมัติหลังเบิก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0" y="804672"/>
            <a:ext cx="4389120" cy="40050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8961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Barcode / QR Code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389888"/>
            <a:ext cx="4206240" cy="493776"/>
          </a:xfrm>
          <a:prstGeom prst="rect">
            <a:avLst/>
          </a:prstGeom>
          <a:solidFill>
            <a:srgbClr val="0F2D4E"/>
          </a:solidFill>
          <a:ln w="12700">
            <a:solidFill>
              <a:srgbClr val="1A3F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89888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ค้นหาสินค้าได้ภายใน 1 วินาที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1956816"/>
            <a:ext cx="4206240" cy="493776"/>
          </a:xfrm>
          <a:prstGeom prst="rect">
            <a:avLst/>
          </a:prstGeom>
          <a:solidFill>
            <a:srgbClr val="0F2D4E"/>
          </a:solidFill>
          <a:ln w="12700">
            <a:solidFill>
              <a:srgbClr val="1A3F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56816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รองรับ Wireless Barcode Scanner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63440" y="2523744"/>
            <a:ext cx="4206240" cy="493776"/>
          </a:xfrm>
          <a:prstGeom prst="rect">
            <a:avLst/>
          </a:prstGeom>
          <a:solidFill>
            <a:srgbClr val="0F2D4E"/>
          </a:solidFill>
          <a:ln w="12700">
            <a:solidFill>
              <a:srgbClr val="1A3F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23744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พิมพ์สติกเกอร์ QR/Barcode สำหรับกล่อง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63440" y="3090672"/>
            <a:ext cx="4206240" cy="493776"/>
          </a:xfrm>
          <a:prstGeom prst="rect">
            <a:avLst/>
          </a:prstGeom>
          <a:solidFill>
            <a:srgbClr val="0F2D4E"/>
          </a:solidFill>
          <a:ln w="12700">
            <a:solidFill>
              <a:srgbClr val="1A3F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09067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ไม่ต้องพิมพ์ชื่อ — ลดเวลาและ Error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4206240" cy="493776"/>
          </a:xfrm>
          <a:prstGeom prst="rect">
            <a:avLst/>
          </a:prstGeom>
          <a:solidFill>
            <a:srgbClr val="0F2D4E"/>
          </a:solidFill>
          <a:ln w="12700">
            <a:solidFill>
              <a:srgbClr val="1A3F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576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ค้นหาได้ทั้งชื่อ, รหัส, และประเภท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4242816"/>
            <a:ext cx="420624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24281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ลดเวลาเบิกจ่ายจาก 5 นาที → ไม่ถึง 30 วินาที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Counting &amp; MA/License Monitoring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384048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Counting — ตรวจนับสต็อก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02996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98448"/>
            <a:ext cx="2029968" cy="54864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สร้างรอบสำรวจ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168249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Session ใหม่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สำหรับตรวจนับรายเดือน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298448"/>
            <a:ext cx="202996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298448"/>
            <a:ext cx="2029968" cy="54864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นับด้วย Tablet/มือถือ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04872" y="168249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เดินนับบนชั้นวาง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กรอกจำนวนสินค้าจริง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2377440"/>
            <a:ext cx="202996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377440"/>
            <a:ext cx="2029968" cy="54864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468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ระบบกระทบยอด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" y="2761488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เปรียบเทียบกับยอดในระบบ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ไฮไลท์ส่วนต่างสีแดง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2377440"/>
            <a:ext cx="202996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31720" y="2377440"/>
            <a:ext cx="2029968" cy="54864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2468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อนุมัติและปิดรอบ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04872" y="2761488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ส่งอนุมัติผู้บริหาร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ระบบปรับยอดอัตโนมัติ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3493008"/>
            <a:ext cx="42062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93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6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ลดเวลาตรวจนับจาก "หลายวัน" เหลือ "ไม่กี่ชั่วโมง"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22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&amp; License Monitoring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298448"/>
            <a:ext cx="4206240" cy="420624"/>
          </a:xfrm>
          <a:prstGeom prst="rect">
            <a:avLst/>
          </a:prstGeom>
          <a:solidFill>
            <a:srgbClr val="F0FDFB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2984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ลงทะเบียน License พร้อมวันหมดอายุ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773936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739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Scheduler ตรวจสอบทุกวันอัตโนมัติ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249424"/>
            <a:ext cx="4206240" cy="420624"/>
          </a:xfrm>
          <a:prstGeom prst="rect">
            <a:avLst/>
          </a:prstGeom>
          <a:solidFill>
            <a:srgbClr val="F0FDFB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4942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30/60/90 วันก่อนหมดอายุ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724912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7249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ไฟสถานะแดง/เหลือง/เขียว บนหน้าเว็บ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200400"/>
            <a:ext cx="4206240" cy="420624"/>
          </a:xfrm>
          <a:prstGeom prst="rect">
            <a:avLst/>
          </a:prstGeom>
          <a:solidFill>
            <a:srgbClr val="F0FDFB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2004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Email แจ้งเตือน Admin อัตโนมัติ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694176"/>
            <a:ext cx="420624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6941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License: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374904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36941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เขียว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77456" y="374904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6941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เหลือง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28432" y="37490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6176" y="36941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แดง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059936"/>
            <a:ext cx="4206240" cy="566928"/>
          </a:xfrm>
          <a:prstGeom prst="rect">
            <a:avLst/>
          </a:prstGeom>
          <a:solidFill>
            <a:srgbClr val="FFF8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0599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ป้องกันการสูญเสียสัญญาประกัน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และซอฟต์แวร์ที่หมดอายุโดยไม่รู้ตัว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สถาปัตยกรรมระบบ (Tech Stack)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59536"/>
            <a:ext cx="5303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59536"/>
            <a:ext cx="1371600" cy="969264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59536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95097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+  Vite  +  Tailwind CSS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 |  Framer Motion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1956816"/>
            <a:ext cx="5303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956816"/>
            <a:ext cx="1371600" cy="9692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956816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(REST API)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04825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+  Express.js v5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 |  Multer  |  Nodemailer  |  Axios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34640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43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3054096"/>
            <a:ext cx="5303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054096"/>
            <a:ext cx="1371600" cy="9692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3054096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1455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(MSSQL)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 |  Ledger Transaction Model  |  Indexes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822960"/>
            <a:ext cx="16093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822960"/>
            <a:ext cx="1609344" cy="73152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9326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SSO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24144" y="12984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ล็อกอินด้วย Corporate Account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ไม่ต้องจำ Password แยก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61504" y="822960"/>
            <a:ext cx="16093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61504" y="822960"/>
            <a:ext cx="160934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9326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16368" y="12984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ดึงข้อมูลบิลจากรูปภาพ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 External AI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103120"/>
            <a:ext cx="16093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0" y="2103120"/>
            <a:ext cx="1609344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24144" y="22128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 (SMTP)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24144" y="25786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ส่งแจ้งเตือน Low Stock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License ใกล้หมด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61504" y="2103120"/>
            <a:ext cx="16093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61504" y="2103120"/>
            <a:ext cx="160934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22128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16368" y="25786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ตรวจสอบสถานะอัตโนมัติ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ทำงานเบื้องหลังตลอดเวลา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4114800"/>
            <a:ext cx="5303520" cy="603504"/>
          </a:xfrm>
          <a:prstGeom prst="rect">
            <a:avLst/>
          </a:prstGeom>
          <a:solidFill>
            <a:srgbClr val="F3F0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1148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ประกอบด้วย 11 ตาราง: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651760" y="41148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|  Transactions  |  PurchaseOrders  |  PODetails  |  Vendors  |  Invoices  |  Locations  |  UserRoles  |  MALicense  |  StockCount  |  BitLockerKeys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ผลลัพธ์ที่คาดหวัง (Expected Impact)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20299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87552"/>
            <a:ext cx="2029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82880" y="192024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ลดเวลากรอกข้อมูล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 AI OCR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84124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841248"/>
            <a:ext cx="2029968" cy="73152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987552"/>
            <a:ext cx="2029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6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395728" y="192024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ตรวจสอบย้อนหลัง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Transaction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08576" y="84124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841248"/>
            <a:ext cx="2029968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987552"/>
            <a:ext cx="2029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608576" y="192024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ระยะเวลา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เบิกของต่อรายการ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21424" y="84124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1424" y="841248"/>
            <a:ext cx="20299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987552"/>
            <a:ext cx="2029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821424" y="192024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License/MA หมด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โดยไม่รู้ตัว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2798064"/>
            <a:ext cx="877824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9806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ประโยชน์สำหรับแต่ละกลุ่ม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" y="3218688"/>
            <a:ext cx="87782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18688"/>
            <a:ext cx="1463040" cy="365760"/>
          </a:xfrm>
          <a:prstGeom prst="rect">
            <a:avLst/>
          </a:prstGeom>
          <a:solidFill>
            <a:srgbClr val="1361A4"/>
          </a:solidFill>
          <a:ln w="12700">
            <a:solidFill>
              <a:srgbClr val="1361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ผู้บริหาร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32186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มอนิเตอร์มูลค่าคลังและงบประมาณ Real-time ได้จากทุกที่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3621024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621024"/>
            <a:ext cx="1463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6210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เจ้าหน้าที่ 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37360" y="362102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เบิก-รับของรวดเร็ว สแกน Barcode ทำงานเสร็จใน 30 วินาที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" y="4023360"/>
            <a:ext cx="87782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023360"/>
            <a:ext cx="1463040" cy="3657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ฝ่ายจัดซื้อ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3736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ระบบแจ้งเตือน Low Stock ล่วงหน้า ไม่ตกใจสั่งของ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2880" y="4425696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4425696"/>
            <a:ext cx="14630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37360" y="44256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สมบูรณ์ ตรวจสอบทุก Transaction ได้ทันที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  |  นวัตกรรมการจัดการคลังพัสดุ 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361A4">
              <a:alpha val="20000"/>
            </a:srgbClr>
          </a:solidFill>
          <a:ln w="12700">
            <a:solidFill>
              <a:srgbClr val="1361A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Stock Pro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2286000" y="2103120"/>
            <a:ext cx="4572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จากกระดาษ → สู่ระบบ Digital ที่ฉลาดและโปร่งใส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1828800" cy="640080"/>
          </a:xfrm>
          <a:prstGeom prst="rect">
            <a:avLst/>
          </a:prstGeom>
          <a:solidFill>
            <a:srgbClr val="0F2D4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55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2944368"/>
            <a:ext cx="1828800" cy="640080"/>
          </a:xfrm>
          <a:prstGeom prst="rect">
            <a:avLst/>
          </a:prstGeom>
          <a:solidFill>
            <a:srgbClr val="0F2D4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3255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อ่านบิลอัตโนมัติ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944368"/>
            <a:ext cx="1828800" cy="640080"/>
          </a:xfrm>
          <a:prstGeom prst="rect">
            <a:avLst/>
          </a:prstGeom>
          <a:solidFill>
            <a:srgbClr val="0F2D4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3255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เบิกใน 30 วินาที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0256" y="2944368"/>
            <a:ext cx="1828800" cy="640080"/>
          </a:xfrm>
          <a:prstGeom prst="rect">
            <a:avLst/>
          </a:prstGeom>
          <a:solidFill>
            <a:srgbClr val="0F2D4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0256" y="3255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ตรวจสอบได้ 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ขอบคุณที่รับฟัง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71A30"/>
          </a:solidFill>
          <a:ln w="12700">
            <a:solidFill>
              <a:srgbClr val="071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 |  2026  |  IT Stock Pro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Stock Pro — นวัตกรรมการจัดการคลังพัสดุ IT</dc:title>
  <dc:subject>PptxGenJS Presentation</dc:subject>
  <dc:creator>IT Department</dc:creator>
  <cp:lastModifiedBy>IT Department</cp:lastModifiedBy>
  <cp:revision>1</cp:revision>
  <dcterms:created xsi:type="dcterms:W3CDTF">2026-03-18T13:04:18Z</dcterms:created>
  <dcterms:modified xsi:type="dcterms:W3CDTF">2026-03-18T13:04:18Z</dcterms:modified>
</cp:coreProperties>
</file>